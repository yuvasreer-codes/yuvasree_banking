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lenders hold rich repayment history but need a consistent, explainable way to rank customers and a controlled data pipeline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needs drove the design: prioritisation, data trust, explainability and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is deliberately separate from storage: a repository module reads inputs and saves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design: each layer talks only to the one beside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data: 30,000 customers x 25 columns, 6,636 defaults (22.1%). Bills and payments become 180,000 rows each in the database. Customers are also grouped into age bands from 18-25 up to 65+.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taken from the pipeline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tables in total: 4 core, 3 ETL audit, 4 aggregate and 2 risk tables. Source: the schema, aggregate_schema, risk and customer_risk_reviews SQL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score stores a plain-language reason, e.g. Elevated credit utilization.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checks are FastAPI dependencies: require_analyst_or_admin on each router and require_admin on review deletion. Responses use Pydantic schemas.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Secrets live in a .env file; .env.example documents the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evaluation here is engineering quality, not model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maps to code and tests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are suggestions, not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1F2E"/>
              </a:gs>
              <a:gs pos="100000">
                <a:srgbClr val="1B3A52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gradFill rotWithShape="1">
            <a:gsLst>
              <a:gs pos="0">
                <a:srgbClr val="1D7A6E"/>
              </a:gs>
              <a:gs pos="100000">
                <a:srgbClr val="C9822B"/>
              </a:gs>
            </a:gsLst>
            <a:lin ang="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7366000" y="2794000"/>
            <a:ext cx="4064000" cy="4064000"/>
          </a:xfrm>
          <a:prstGeom prst="roundRect">
            <a:avLst>
              <a:gd name="adj" fmla="val 40000"/>
            </a:avLst>
          </a:prstGeom>
          <a:solidFill>
            <a:srgbClr val="C9822B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242579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C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ANALYTICS</a:t>
            </a:r>
            <a:endParaRPr lang="en-US" sz="1400" dirty="0"/>
          </a:p>
        </p:txBody>
      </p:sp>
      <p:sp>
        <p:nvSpPr>
          <p:cNvPr id="8" name="Text 6"/>
          <p:cNvSpPr/>
          <p:nvPr>
            <p:ph type="title"/>
          </p:nvPr>
        </p:nvSpPr>
        <p:spPr>
          <a:xfrm>
            <a:off x="812800" y="297944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Bank Loan Risk Analysis Platform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12800" y="3954760"/>
            <a:ext cx="108833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9FB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credit-card data to explainable risk scores, an API and an analyst 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4834731"/>
            <a:ext cx="418592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BY: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YUVASREE 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 statement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1513780"/>
            <a:ext cx="3386634" cy="1800721"/>
          </a:xfrm>
          <a:prstGeom prst="roundRect">
            <a:avLst>
              <a:gd name="adj" fmla="val 7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513780"/>
            <a:ext cx="3386634" cy="1800721"/>
          </a:xfrm>
          <a:custGeom>
            <a:avLst/>
            <a:gdLst/>
            <a:ahLst/>
            <a:cxnLst/>
            <a:rect l="l" t="t" r="r" b="b"/>
            <a:pathLst>
              <a:path w="3386634" h="180072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1793180"/>
            <a:ext cx="30173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hides in history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2125861"/>
            <a:ext cx="3017317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months of repayment status, bills and payments must be read together. A single late month or a high balance alone tells little.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2634" y="1513780"/>
            <a:ext cx="3386733" cy="1800721"/>
          </a:xfrm>
          <a:prstGeom prst="roundRect">
            <a:avLst>
              <a:gd name="adj" fmla="val 7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2634" y="1513780"/>
            <a:ext cx="3386733" cy="1800721"/>
          </a:xfrm>
          <a:custGeom>
            <a:avLst/>
            <a:gdLst/>
            <a:ahLst/>
            <a:cxnLst/>
            <a:rect l="l" t="t" r="r" b="b"/>
            <a:pathLst>
              <a:path w="3386733" h="180072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733" y="0"/>
                </a:lnTo>
                <a:arcTo hR="127000" wR="127000" stAng="16200000" swAng="5400000"/>
                <a:lnTo>
                  <a:pt x="3386733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4631234" y="1793180"/>
            <a:ext cx="301741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is messy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31234" y="2125861"/>
            <a:ext cx="3017419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and marriage codes fall outside the documented set, and some bill amounts are negative (credit balances).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2566" y="1513780"/>
            <a:ext cx="3386634" cy="1800721"/>
          </a:xfrm>
          <a:prstGeom prst="roundRect">
            <a:avLst>
              <a:gd name="adj" fmla="val 7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92566" y="1513780"/>
            <a:ext cx="3386634" cy="1800721"/>
          </a:xfrm>
          <a:custGeom>
            <a:avLst/>
            <a:gdLst/>
            <a:ahLst/>
            <a:cxnLst/>
            <a:rect l="l" t="t" r="r" b="b"/>
            <a:pathLst>
              <a:path w="3386634" h="180072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1166" y="1793180"/>
            <a:ext cx="30173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 a trail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1166" y="2125861"/>
            <a:ext cx="3017317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must record status, priority and notes for each flagged customer, and data loads must be auditable.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568502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30,000 credit-card customers, 6,636 (22.1%) defaulted the following month.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2266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Business need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1513780"/>
            <a:ext cx="5181600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513780"/>
            <a:ext cx="5181600" cy="1320701"/>
          </a:xfrm>
          <a:custGeom>
            <a:avLst/>
            <a:gdLst/>
            <a:ahLst/>
            <a:cxnLst/>
            <a:rect l="l" t="t" r="r" b="b"/>
            <a:pathLst>
              <a:path w="5181600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1793180"/>
            <a:ext cx="48661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high-risk customers early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2125861"/>
            <a:ext cx="486613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all 30,000 accounts by a 0 to 100 score and Low, Medium or High band, so reviewers start with the riskiest.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7600" y="1513780"/>
            <a:ext cx="5181600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7600" y="1513780"/>
            <a:ext cx="5181600" cy="1320701"/>
          </a:xfrm>
          <a:custGeom>
            <a:avLst/>
            <a:gdLst/>
            <a:ahLst/>
            <a:cxnLst/>
            <a:rect l="l" t="t" r="r" b="b"/>
            <a:pathLst>
              <a:path w="5181600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200" y="1793180"/>
            <a:ext cx="48661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numbers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6200" y="2125861"/>
            <a:ext cx="486613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load is validated and reconciled. Rejected records are exported with their reason and audited.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3037681"/>
            <a:ext cx="5181600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800" y="3037681"/>
            <a:ext cx="5181600" cy="1320701"/>
          </a:xfrm>
          <a:custGeom>
            <a:avLst/>
            <a:gdLst/>
            <a:ahLst/>
            <a:cxnLst/>
            <a:rect l="l" t="t" r="r" b="b"/>
            <a:pathLst>
              <a:path w="5181600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3317081"/>
            <a:ext cx="48661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every score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1400" y="3649762"/>
            <a:ext cx="486613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rating stores per-indicator points, a rule version and a plain-language reason.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97600" y="3037681"/>
            <a:ext cx="5181600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7600" y="3037681"/>
            <a:ext cx="5181600" cy="1320701"/>
          </a:xfrm>
          <a:custGeom>
            <a:avLst/>
            <a:gdLst/>
            <a:ahLst/>
            <a:cxnLst/>
            <a:rect l="l" t="t" r="r" b="b"/>
            <a:pathLst>
              <a:path w="5181600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26200" y="3317081"/>
            <a:ext cx="48661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access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26200" y="3649762"/>
            <a:ext cx="486613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and administrators sign in with JWT tokens. Only administrators can delete reviews.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2266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Solution overview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1513780"/>
            <a:ext cx="5181600" cy="1560711"/>
          </a:xfrm>
          <a:prstGeom prst="roundRect">
            <a:avLst>
              <a:gd name="adj" fmla="val 8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513780"/>
            <a:ext cx="5181600" cy="1560711"/>
          </a:xfrm>
          <a:custGeom>
            <a:avLst/>
            <a:gdLst/>
            <a:ahLst/>
            <a:cxnLst/>
            <a:rect l="l" t="t" r="r" b="b"/>
            <a:pathLst>
              <a:path w="5181600" h="156071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1793180"/>
            <a:ext cx="48661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2125861"/>
            <a:ext cx="4866132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Ten-step ETL from Excel to MySQL: validation, transformation, incremental classification, batch loading, reconciliation and archiving.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7600" y="1513780"/>
            <a:ext cx="5181600" cy="1560711"/>
          </a:xfrm>
          <a:prstGeom prst="roundRect">
            <a:avLst>
              <a:gd name="adj" fmla="val 8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7600" y="1513780"/>
            <a:ext cx="5181600" cy="1560711"/>
          </a:xfrm>
          <a:custGeom>
            <a:avLst/>
            <a:gdLst/>
            <a:ahLst/>
            <a:cxnLst/>
            <a:rect l="l" t="t" r="r" b="b"/>
            <a:pathLst>
              <a:path w="5181600" h="156071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200" y="1793180"/>
            <a:ext cx="48661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6200" y="2125861"/>
            <a:ext cx="486613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rules in risk_config.py turn four indicators into a score and band. It never modifies the database itself.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3277691"/>
            <a:ext cx="5181600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800" y="3277691"/>
            <a:ext cx="5181600" cy="1320701"/>
          </a:xfrm>
          <a:custGeom>
            <a:avLst/>
            <a:gdLst/>
            <a:ahLst/>
            <a:cxnLst/>
            <a:rect l="l" t="t" r="r" b="b"/>
            <a:pathLst>
              <a:path w="5181600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3557091"/>
            <a:ext cx="48661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1400" y="3889772"/>
            <a:ext cx="486613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routers for dashboard, customers, reviews, exports and auth, with Pydantic response schemas.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97600" y="3277691"/>
            <a:ext cx="5181600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7600" y="3277691"/>
            <a:ext cx="5181600" cy="1320701"/>
          </a:xfrm>
          <a:custGeom>
            <a:avLst/>
            <a:gdLst/>
            <a:ahLst/>
            <a:cxnLst/>
            <a:rect l="l" t="t" r="r" b="b"/>
            <a:pathLst>
              <a:path w="5181600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26200" y="3557091"/>
            <a:ext cx="48661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workspace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26200" y="3889772"/>
            <a:ext cx="486613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 with Dashboard, Customer Explorer, Risk Reviews and Data Export pages.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2266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Architecture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1513780"/>
            <a:ext cx="3386634" cy="1427262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513780"/>
            <a:ext cx="3386634" cy="1427262"/>
          </a:xfrm>
          <a:custGeom>
            <a:avLst/>
            <a:gdLst/>
            <a:ahLst/>
            <a:cxnLst/>
            <a:rect l="l" t="t" r="r" b="b"/>
            <a:pathLst>
              <a:path w="3386634" h="1427262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1793180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Source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1400" y="2095401"/>
            <a:ext cx="3017317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(.xls or .xlsx), sheet Data, dropped into the incoming folder.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2634" y="1513780"/>
            <a:ext cx="3386634" cy="1427262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2634" y="1513780"/>
            <a:ext cx="3386634" cy="1427262"/>
          </a:xfrm>
          <a:custGeom>
            <a:avLst/>
            <a:gdLst/>
            <a:ahLst/>
            <a:cxnLst/>
            <a:rect l="l" t="t" r="r" b="b"/>
            <a:pathLst>
              <a:path w="3386634" h="1427262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4631234" y="1793180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ETL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1234" y="2095401"/>
            <a:ext cx="3017317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extract, data_quality, transform, incremental, load and reconciliation modules.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92467" y="1513780"/>
            <a:ext cx="3386634" cy="1427262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92467" y="1513780"/>
            <a:ext cx="3386634" cy="1427262"/>
          </a:xfrm>
          <a:custGeom>
            <a:avLst/>
            <a:gdLst/>
            <a:ahLst/>
            <a:cxnLst/>
            <a:rect l="l" t="t" r="r" b="b"/>
            <a:pathLst>
              <a:path w="3386634" h="1427262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1067" y="1793180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MySQL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1067" y="2095401"/>
            <a:ext cx="3017317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tables, ETL audit tables, aggregate tables and risk tables.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144242"/>
            <a:ext cx="3386634" cy="1221581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2800" y="3144242"/>
            <a:ext cx="3386634" cy="1221581"/>
          </a:xfrm>
          <a:custGeom>
            <a:avLst/>
            <a:gdLst/>
            <a:ahLst/>
            <a:cxnLst/>
            <a:rect l="l" t="t" r="r" b="b"/>
            <a:pathLst>
              <a:path w="3386634" h="122158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1041400" y="3423642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Risk engine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1400" y="3725863"/>
            <a:ext cx="3017317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credit profiles, scores each customer, saves to customer_risk_scores.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02634" y="3144242"/>
            <a:ext cx="3386634" cy="1221581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02634" y="3144242"/>
            <a:ext cx="3386634" cy="1221581"/>
          </a:xfrm>
          <a:custGeom>
            <a:avLst/>
            <a:gdLst/>
            <a:ahLst/>
            <a:cxnLst/>
            <a:rect l="l" t="t" r="r" b="b"/>
            <a:pathLst>
              <a:path w="3386634" h="122158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25" name="Text 23"/>
          <p:cNvSpPr/>
          <p:nvPr/>
        </p:nvSpPr>
        <p:spPr>
          <a:xfrm>
            <a:off x="4631234" y="3423642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FastAPI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31234" y="3725863"/>
            <a:ext cx="3017317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dashboard, customers, reviews and exports, plus health and database checks.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92467" y="3144242"/>
            <a:ext cx="3386634" cy="1221581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92467" y="3144242"/>
            <a:ext cx="3386634" cy="1221581"/>
          </a:xfrm>
          <a:custGeom>
            <a:avLst/>
            <a:gdLst/>
            <a:ahLst/>
            <a:cxnLst/>
            <a:rect l="l" t="t" r="r" b="b"/>
            <a:pathLst>
              <a:path w="3386634" h="122158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1067" y="3423642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Streamlit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1067" y="3725863"/>
            <a:ext cx="3017317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pages calling the API, with analyst and administrator views.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2266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14"/>
              </a:lnSpc>
              <a:buNone/>
            </a:pPr>
            <a:r>
              <a:rPr lang="en-US" sz="274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dataset and derived metrics</a:t>
            </a:r>
            <a:endParaRPr lang="en-US" sz="2740" dirty="0"/>
          </a:p>
        </p:txBody>
      </p:sp>
      <p:sp>
        <p:nvSpPr>
          <p:cNvPr id="7" name="Shape 5"/>
          <p:cNvSpPr/>
          <p:nvPr/>
        </p:nvSpPr>
        <p:spPr>
          <a:xfrm>
            <a:off x="812800" y="1449388"/>
            <a:ext cx="3386634" cy="1291332"/>
          </a:xfrm>
          <a:prstGeom prst="roundRect">
            <a:avLst>
              <a:gd name="adj" fmla="val 9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449388"/>
            <a:ext cx="3386634" cy="1291332"/>
          </a:xfrm>
          <a:custGeom>
            <a:avLst/>
            <a:gdLst/>
            <a:ahLst/>
            <a:cxnLst/>
            <a:rect l="l" t="t" r="r" b="b"/>
            <a:pathLst>
              <a:path w="3386634" h="1291332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703388"/>
            <a:ext cx="3069641" cy="389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734" dirty="0">
                <a:solidFill>
                  <a:srgbClr val="1D7A6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30,000</a:t>
            </a:r>
            <a:endParaRPr lang="en-US" sz="2734" dirty="0"/>
          </a:p>
        </p:txBody>
      </p:sp>
      <p:sp>
        <p:nvSpPr>
          <p:cNvPr id="10" name="Text 8"/>
          <p:cNvSpPr/>
          <p:nvPr/>
        </p:nvSpPr>
        <p:spPr>
          <a:xfrm>
            <a:off x="1016000" y="2143621"/>
            <a:ext cx="3069641" cy="187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1059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59" dirty="0"/>
          </a:p>
        </p:txBody>
      </p:sp>
      <p:sp>
        <p:nvSpPr>
          <p:cNvPr id="11" name="Text 9"/>
          <p:cNvSpPr/>
          <p:nvPr/>
        </p:nvSpPr>
        <p:spPr>
          <a:xfrm>
            <a:off x="1016000" y="2381647"/>
            <a:ext cx="3069641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94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credit-card client</a:t>
            </a:r>
            <a:endParaRPr lang="en-US" sz="941" dirty="0"/>
          </a:p>
        </p:txBody>
      </p:sp>
      <p:sp>
        <p:nvSpPr>
          <p:cNvPr id="12" name="Shape 10"/>
          <p:cNvSpPr/>
          <p:nvPr/>
        </p:nvSpPr>
        <p:spPr>
          <a:xfrm>
            <a:off x="4402634" y="1449388"/>
            <a:ext cx="3386733" cy="1291332"/>
          </a:xfrm>
          <a:prstGeom prst="roundRect">
            <a:avLst>
              <a:gd name="adj" fmla="val 9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2634" y="1449388"/>
            <a:ext cx="3386733" cy="1291332"/>
          </a:xfrm>
          <a:custGeom>
            <a:avLst/>
            <a:gdLst/>
            <a:ahLst/>
            <a:cxnLst/>
            <a:rect l="l" t="t" r="r" b="b"/>
            <a:pathLst>
              <a:path w="3386733" h="1291332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733" y="0"/>
                </a:lnTo>
                <a:arcTo hR="127000" wR="127000" stAng="16200000" swAng="5400000"/>
                <a:lnTo>
                  <a:pt x="3386733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834" y="1703388"/>
            <a:ext cx="3069743" cy="389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734" dirty="0">
                <a:solidFill>
                  <a:srgbClr val="1D7A6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22.1%</a:t>
            </a:r>
            <a:endParaRPr lang="en-US" sz="2734" dirty="0"/>
          </a:p>
        </p:txBody>
      </p:sp>
      <p:sp>
        <p:nvSpPr>
          <p:cNvPr id="15" name="Text 13"/>
          <p:cNvSpPr/>
          <p:nvPr/>
        </p:nvSpPr>
        <p:spPr>
          <a:xfrm>
            <a:off x="4605834" y="2143621"/>
            <a:ext cx="3069743" cy="187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1059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defaulted next month</a:t>
            </a:r>
            <a:endParaRPr lang="en-US" sz="1059" dirty="0"/>
          </a:p>
        </p:txBody>
      </p:sp>
      <p:sp>
        <p:nvSpPr>
          <p:cNvPr id="16" name="Text 14"/>
          <p:cNvSpPr/>
          <p:nvPr/>
        </p:nvSpPr>
        <p:spPr>
          <a:xfrm>
            <a:off x="4605834" y="2381647"/>
            <a:ext cx="306974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94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6,636 customers in the data</a:t>
            </a:r>
            <a:endParaRPr lang="en-US" sz="941" dirty="0"/>
          </a:p>
        </p:txBody>
      </p:sp>
      <p:sp>
        <p:nvSpPr>
          <p:cNvPr id="17" name="Shape 15"/>
          <p:cNvSpPr/>
          <p:nvPr/>
        </p:nvSpPr>
        <p:spPr>
          <a:xfrm>
            <a:off x="7992566" y="1449388"/>
            <a:ext cx="3386634" cy="1291332"/>
          </a:xfrm>
          <a:prstGeom prst="roundRect">
            <a:avLst>
              <a:gd name="adj" fmla="val 9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92566" y="1449388"/>
            <a:ext cx="3386634" cy="1291332"/>
          </a:xfrm>
          <a:custGeom>
            <a:avLst/>
            <a:gdLst/>
            <a:ahLst/>
            <a:cxnLst/>
            <a:rect l="l" t="t" r="r" b="b"/>
            <a:pathLst>
              <a:path w="3386634" h="1291332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9" name="Text 17"/>
          <p:cNvSpPr/>
          <p:nvPr/>
        </p:nvSpPr>
        <p:spPr>
          <a:xfrm>
            <a:off x="8195766" y="1703388"/>
            <a:ext cx="3069641" cy="389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734" dirty="0">
                <a:solidFill>
                  <a:srgbClr val="1D7A6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25</a:t>
            </a:r>
            <a:endParaRPr lang="en-US" sz="2734" dirty="0"/>
          </a:p>
        </p:txBody>
      </p:sp>
      <p:sp>
        <p:nvSpPr>
          <p:cNvPr id="20" name="Text 18"/>
          <p:cNvSpPr/>
          <p:nvPr/>
        </p:nvSpPr>
        <p:spPr>
          <a:xfrm>
            <a:off x="8195766" y="2143621"/>
            <a:ext cx="3069641" cy="187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1059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columns</a:t>
            </a:r>
            <a:endParaRPr lang="en-US" sz="1059" dirty="0"/>
          </a:p>
        </p:txBody>
      </p:sp>
      <p:sp>
        <p:nvSpPr>
          <p:cNvPr id="21" name="Text 19"/>
          <p:cNvSpPr/>
          <p:nvPr/>
        </p:nvSpPr>
        <p:spPr>
          <a:xfrm>
            <a:off x="8195766" y="2381647"/>
            <a:ext cx="3069641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94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customer in the Excel sheet</a:t>
            </a:r>
            <a:endParaRPr lang="en-US" sz="941" dirty="0"/>
          </a:p>
        </p:txBody>
      </p:sp>
      <p:sp>
        <p:nvSpPr>
          <p:cNvPr id="22" name="Text 20"/>
          <p:cNvSpPr/>
          <p:nvPr/>
        </p:nvSpPr>
        <p:spPr>
          <a:xfrm>
            <a:off x="812800" y="2994720"/>
            <a:ext cx="10883392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50" kern="0" dirty="0">
                <a:solidFill>
                  <a:srgbClr val="1D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COLUMN GROUPS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2800" y="3431282"/>
            <a:ext cx="1991320" cy="1076127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2800" y="3431282"/>
            <a:ext cx="1991320" cy="1076127"/>
          </a:xfrm>
          <a:custGeom>
            <a:avLst/>
            <a:gdLst/>
            <a:ahLst/>
            <a:cxnLst/>
            <a:rect l="l" t="t" r="r" b="b"/>
            <a:pathLst>
              <a:path w="1991320" h="107612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864320" y="0"/>
                </a:lnTo>
                <a:arcTo hR="127000" wR="127000" stAng="16200000" swAng="5400000"/>
                <a:lnTo>
                  <a:pt x="199132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25" name="Text 23"/>
          <p:cNvSpPr/>
          <p:nvPr/>
        </p:nvSpPr>
        <p:spPr>
          <a:xfrm>
            <a:off x="977900" y="3647182"/>
            <a:ext cx="1711920" cy="1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4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934" dirty="0"/>
          </a:p>
        </p:txBody>
      </p:sp>
      <p:sp>
        <p:nvSpPr>
          <p:cNvPr id="26" name="Text 24"/>
          <p:cNvSpPr/>
          <p:nvPr/>
        </p:nvSpPr>
        <p:spPr>
          <a:xfrm>
            <a:off x="977900" y="3864868"/>
            <a:ext cx="171192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88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limit, sex, education, marriage status and age.</a:t>
            </a:r>
            <a:endParaRPr lang="en-US" sz="1088" dirty="0"/>
          </a:p>
        </p:txBody>
      </p:sp>
      <p:sp>
        <p:nvSpPr>
          <p:cNvPr id="27" name="Shape 25"/>
          <p:cNvSpPr/>
          <p:nvPr/>
        </p:nvSpPr>
        <p:spPr>
          <a:xfrm>
            <a:off x="2956520" y="3431282"/>
            <a:ext cx="1991420" cy="1076127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56520" y="3431282"/>
            <a:ext cx="1991420" cy="1076127"/>
          </a:xfrm>
          <a:custGeom>
            <a:avLst/>
            <a:gdLst/>
            <a:ahLst/>
            <a:cxnLst/>
            <a:rect l="l" t="t" r="r" b="b"/>
            <a:pathLst>
              <a:path w="1991420" h="107612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864420" y="0"/>
                </a:lnTo>
                <a:arcTo hR="127000" wR="127000" stAng="16200000" swAng="5400000"/>
                <a:lnTo>
                  <a:pt x="199142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29" name="Text 27"/>
          <p:cNvSpPr/>
          <p:nvPr/>
        </p:nvSpPr>
        <p:spPr>
          <a:xfrm>
            <a:off x="3121620" y="3647182"/>
            <a:ext cx="171202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21620" y="3906242"/>
            <a:ext cx="171202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Repayment status for each of the six months.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00340" y="3431282"/>
            <a:ext cx="1991320" cy="1076127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00340" y="3431282"/>
            <a:ext cx="1991320" cy="1076127"/>
          </a:xfrm>
          <a:custGeom>
            <a:avLst/>
            <a:gdLst/>
            <a:ahLst/>
            <a:cxnLst/>
            <a:rect l="l" t="t" r="r" b="b"/>
            <a:pathLst>
              <a:path w="1991320" h="107612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864320" y="0"/>
                </a:lnTo>
                <a:arcTo hR="127000" wR="127000" stAng="16200000" swAng="5400000"/>
                <a:lnTo>
                  <a:pt x="199132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33" name="Text 31"/>
          <p:cNvSpPr/>
          <p:nvPr/>
        </p:nvSpPr>
        <p:spPr>
          <a:xfrm>
            <a:off x="5265440" y="3647182"/>
            <a:ext cx="171192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65440" y="3906242"/>
            <a:ext cx="171192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amount for each of the six months.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44060" y="3431282"/>
            <a:ext cx="1991420" cy="1076127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44060" y="3431282"/>
            <a:ext cx="1991420" cy="1076127"/>
          </a:xfrm>
          <a:custGeom>
            <a:avLst/>
            <a:gdLst/>
            <a:ahLst/>
            <a:cxnLst/>
            <a:rect l="l" t="t" r="r" b="b"/>
            <a:pathLst>
              <a:path w="1991420" h="107612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864420" y="0"/>
                </a:lnTo>
                <a:arcTo hR="127000" wR="127000" stAng="16200000" swAng="5400000"/>
                <a:lnTo>
                  <a:pt x="199142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37" name="Text 35"/>
          <p:cNvSpPr/>
          <p:nvPr/>
        </p:nvSpPr>
        <p:spPr>
          <a:xfrm>
            <a:off x="7409160" y="3647182"/>
            <a:ext cx="171202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09160" y="3906242"/>
            <a:ext cx="171202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paid in each of the six months.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387880" y="3431282"/>
            <a:ext cx="1991320" cy="1076127"/>
          </a:xfrm>
          <a:prstGeom prst="roundRect">
            <a:avLst>
              <a:gd name="adj" fmla="val 118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87880" y="3431282"/>
            <a:ext cx="1991320" cy="1076127"/>
          </a:xfrm>
          <a:custGeom>
            <a:avLst/>
            <a:gdLst/>
            <a:ahLst/>
            <a:cxnLst/>
            <a:rect l="l" t="t" r="r" b="b"/>
            <a:pathLst>
              <a:path w="1991320" h="1076127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864320" y="0"/>
                </a:lnTo>
                <a:arcTo hR="127000" wR="127000" stAng="16200000" swAng="5400000"/>
                <a:lnTo>
                  <a:pt x="199132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41" name="Text 39"/>
          <p:cNvSpPr/>
          <p:nvPr/>
        </p:nvSpPr>
        <p:spPr>
          <a:xfrm>
            <a:off x="9552980" y="3647182"/>
            <a:ext cx="1711920" cy="1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934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34" dirty="0"/>
          </a:p>
        </p:txBody>
      </p:sp>
      <p:sp>
        <p:nvSpPr>
          <p:cNvPr id="42" name="Text 40"/>
          <p:cNvSpPr/>
          <p:nvPr/>
        </p:nvSpPr>
        <p:spPr>
          <a:xfrm>
            <a:off x="9552980" y="3864868"/>
            <a:ext cx="171192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7"/>
              </a:lnSpc>
              <a:buNone/>
            </a:pPr>
            <a:r>
              <a:rPr lang="en-US" sz="102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next month: 1 means default, 0 means no default.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12800" y="4761409"/>
            <a:ext cx="10883392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50" kern="0" dirty="0">
                <a:solidFill>
                  <a:srgbClr val="1D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METRICS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2800" y="5197971"/>
            <a:ext cx="2527300" cy="644029"/>
          </a:xfrm>
          <a:prstGeom prst="roundRect">
            <a:avLst>
              <a:gd name="adj" fmla="val 19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2800" y="5197971"/>
            <a:ext cx="2527300" cy="644029"/>
          </a:xfrm>
          <a:custGeom>
            <a:avLst/>
            <a:gdLst/>
            <a:ahLst/>
            <a:cxnLst/>
            <a:rect l="l" t="t" r="r" b="b"/>
            <a:pathLst>
              <a:path w="2527300" h="644029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46" name="Text 44"/>
          <p:cNvSpPr/>
          <p:nvPr/>
        </p:nvSpPr>
        <p:spPr>
          <a:xfrm>
            <a:off x="939800" y="5375771"/>
            <a:ext cx="2341499" cy="1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851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</a:t>
            </a:r>
            <a:endParaRPr lang="en-US" sz="851" dirty="0"/>
          </a:p>
        </p:txBody>
      </p:sp>
      <p:sp>
        <p:nvSpPr>
          <p:cNvPr id="47" name="Text 45"/>
          <p:cNvSpPr/>
          <p:nvPr/>
        </p:nvSpPr>
        <p:spPr>
          <a:xfrm>
            <a:off x="939800" y="5581452"/>
            <a:ext cx="234149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794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bill ÷ credit limit</a:t>
            </a:r>
            <a:endParaRPr lang="en-US" sz="794" dirty="0"/>
          </a:p>
        </p:txBody>
      </p:sp>
      <p:sp>
        <p:nvSpPr>
          <p:cNvPr id="48" name="Shape 46"/>
          <p:cNvSpPr/>
          <p:nvPr/>
        </p:nvSpPr>
        <p:spPr>
          <a:xfrm>
            <a:off x="3492500" y="5197971"/>
            <a:ext cx="2527300" cy="644029"/>
          </a:xfrm>
          <a:prstGeom prst="roundRect">
            <a:avLst>
              <a:gd name="adj" fmla="val 19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492500" y="5197971"/>
            <a:ext cx="2527300" cy="644029"/>
          </a:xfrm>
          <a:custGeom>
            <a:avLst/>
            <a:gdLst/>
            <a:ahLst/>
            <a:cxnLst/>
            <a:rect l="l" t="t" r="r" b="b"/>
            <a:pathLst>
              <a:path w="2527300" h="644029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50" name="Text 48"/>
          <p:cNvSpPr/>
          <p:nvPr/>
        </p:nvSpPr>
        <p:spPr>
          <a:xfrm>
            <a:off x="3619500" y="5375771"/>
            <a:ext cx="2341499" cy="1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851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Payment-to-bill</a:t>
            </a:r>
            <a:endParaRPr lang="en-US" sz="851" dirty="0"/>
          </a:p>
        </p:txBody>
      </p:sp>
      <p:sp>
        <p:nvSpPr>
          <p:cNvPr id="51" name="Text 49"/>
          <p:cNvSpPr/>
          <p:nvPr/>
        </p:nvSpPr>
        <p:spPr>
          <a:xfrm>
            <a:off x="3619500" y="5581452"/>
            <a:ext cx="234149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794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payments ÷ total bills</a:t>
            </a:r>
            <a:endParaRPr lang="en-US" sz="794" dirty="0"/>
          </a:p>
        </p:txBody>
      </p:sp>
      <p:sp>
        <p:nvSpPr>
          <p:cNvPr id="52" name="Shape 50"/>
          <p:cNvSpPr/>
          <p:nvPr/>
        </p:nvSpPr>
        <p:spPr>
          <a:xfrm>
            <a:off x="6172200" y="5197971"/>
            <a:ext cx="2527300" cy="644029"/>
          </a:xfrm>
          <a:prstGeom prst="roundRect">
            <a:avLst>
              <a:gd name="adj" fmla="val 19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72200" y="5197971"/>
            <a:ext cx="2527300" cy="644029"/>
          </a:xfrm>
          <a:custGeom>
            <a:avLst/>
            <a:gdLst/>
            <a:ahLst/>
            <a:cxnLst/>
            <a:rect l="l" t="t" r="r" b="b"/>
            <a:pathLst>
              <a:path w="2527300" h="644029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54" name="Text 52"/>
          <p:cNvSpPr/>
          <p:nvPr/>
        </p:nvSpPr>
        <p:spPr>
          <a:xfrm>
            <a:off x="6299200" y="5375771"/>
            <a:ext cx="2341499" cy="1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851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with delay</a:t>
            </a:r>
            <a:endParaRPr lang="en-US" sz="851" dirty="0"/>
          </a:p>
        </p:txBody>
      </p:sp>
      <p:sp>
        <p:nvSpPr>
          <p:cNvPr id="55" name="Text 53"/>
          <p:cNvSpPr/>
          <p:nvPr/>
        </p:nvSpPr>
        <p:spPr>
          <a:xfrm>
            <a:off x="6299200" y="5581452"/>
            <a:ext cx="234149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794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with status above 0</a:t>
            </a:r>
            <a:endParaRPr lang="en-US" sz="794" dirty="0"/>
          </a:p>
        </p:txBody>
      </p:sp>
      <p:sp>
        <p:nvSpPr>
          <p:cNvPr id="56" name="Shape 54"/>
          <p:cNvSpPr/>
          <p:nvPr/>
        </p:nvSpPr>
        <p:spPr>
          <a:xfrm>
            <a:off x="8851900" y="5197971"/>
            <a:ext cx="2527300" cy="644029"/>
          </a:xfrm>
          <a:prstGeom prst="roundRect">
            <a:avLst>
              <a:gd name="adj" fmla="val 19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851900" y="5197971"/>
            <a:ext cx="2527300" cy="644029"/>
          </a:xfrm>
          <a:custGeom>
            <a:avLst/>
            <a:gdLst/>
            <a:ahLst/>
            <a:cxnLst/>
            <a:rect l="l" t="t" r="r" b="b"/>
            <a:pathLst>
              <a:path w="2527300" h="644029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58" name="Text 56"/>
          <p:cNvSpPr/>
          <p:nvPr/>
        </p:nvSpPr>
        <p:spPr>
          <a:xfrm>
            <a:off x="8978900" y="5375771"/>
            <a:ext cx="2341499" cy="1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851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delay</a:t>
            </a:r>
            <a:endParaRPr lang="en-US" sz="851" dirty="0"/>
          </a:p>
        </p:txBody>
      </p:sp>
      <p:sp>
        <p:nvSpPr>
          <p:cNvPr id="59" name="Text 57"/>
          <p:cNvSpPr/>
          <p:nvPr/>
        </p:nvSpPr>
        <p:spPr>
          <a:xfrm>
            <a:off x="8978900" y="5581452"/>
            <a:ext cx="234149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794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monthly status</a:t>
            </a:r>
            <a:endParaRPr lang="en-US" sz="794" dirty="0"/>
          </a:p>
        </p:txBody>
      </p:sp>
      <p:sp>
        <p:nvSpPr>
          <p:cNvPr id="60" name="Text 58"/>
          <p:cNvSpPr/>
          <p:nvPr/>
        </p:nvSpPr>
        <p:spPr>
          <a:xfrm>
            <a:off x="812800" y="6238280"/>
            <a:ext cx="2266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flow: ten-step ETL pipeline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0136" y="1564580"/>
            <a:ext cx="4220964" cy="4002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6664" indent="-296664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source file</a:t>
            </a:r>
            <a:endParaRPr lang="en-US" sz="1400" dirty="0"/>
          </a:p>
          <a:p>
            <a:pPr algn="l" marL="296664" indent="-296664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data quality</a:t>
            </a:r>
            <a:endParaRPr lang="en-US" sz="1400" dirty="0"/>
          </a:p>
          <a:p>
            <a:pPr algn="l" marL="296664" indent="-296664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and derive metrics</a:t>
            </a:r>
            <a:endParaRPr lang="en-US" sz="1400" dirty="0"/>
          </a:p>
          <a:p>
            <a:pPr algn="l" marL="296664" indent="-296664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new, duplicate, corrected</a:t>
            </a:r>
            <a:endParaRPr lang="en-US" sz="1400" dirty="0"/>
          </a:p>
          <a:p>
            <a:pPr algn="l" marL="296664" indent="-296664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ETL run record</a:t>
            </a:r>
            <a:endParaRPr lang="en-US" sz="1400" dirty="0"/>
          </a:p>
          <a:p>
            <a:pPr algn="l" marL="296664" indent="-296664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quality issues</a:t>
            </a:r>
            <a:endParaRPr lang="en-US" sz="1400" dirty="0"/>
          </a:p>
          <a:p>
            <a:pPr algn="l" marL="296664" indent="-296664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curated snapshots</a:t>
            </a:r>
            <a:endParaRPr lang="en-US" sz="1400" dirty="0"/>
          </a:p>
          <a:p>
            <a:pPr algn="l" marL="296664" indent="-296664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MySQL in batches</a:t>
            </a:r>
            <a:endParaRPr lang="en-US" sz="1400" dirty="0"/>
          </a:p>
          <a:p>
            <a:pPr algn="l" marL="296664" indent="-296664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source and database</a:t>
            </a:r>
            <a:endParaRPr lang="en-US" sz="1400" dirty="0"/>
          </a:p>
          <a:p>
            <a:pPr algn="l" marL="296664" indent="-296664">
              <a:lnSpc>
                <a:spcPts val="189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the source file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83200" y="1564580"/>
            <a:ext cx="6096000" cy="1384201"/>
          </a:xfrm>
          <a:prstGeom prst="roundRect">
            <a:avLst>
              <a:gd name="adj" fmla="val 9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83200" y="1564580"/>
            <a:ext cx="6096000" cy="1384201"/>
          </a:xfrm>
          <a:custGeom>
            <a:avLst/>
            <a:gdLst/>
            <a:ahLst/>
            <a:cxnLst/>
            <a:rect l="l" t="t" r="r" b="b"/>
            <a:pathLst>
              <a:path w="6096000" h="13842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969000" y="0"/>
                </a:lnTo>
                <a:arcTo hR="127000" wR="127000" stAng="16200000" swAng="5400000"/>
                <a:lnTo>
                  <a:pt x="60960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10" name="Text 8"/>
          <p:cNvSpPr/>
          <p:nvPr/>
        </p:nvSpPr>
        <p:spPr>
          <a:xfrm>
            <a:off x="5537200" y="1869380"/>
            <a:ext cx="57556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7200" y="2214761"/>
            <a:ext cx="575564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for missing values, age, credit limit and repayment codes. Rejected rows are exported and audited.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83200" y="3101181"/>
            <a:ext cx="6096000" cy="1144191"/>
          </a:xfrm>
          <a:prstGeom prst="roundRect">
            <a:avLst>
              <a:gd name="adj" fmla="val 11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83200" y="3101181"/>
            <a:ext cx="6096000" cy="1144191"/>
          </a:xfrm>
          <a:custGeom>
            <a:avLst/>
            <a:gdLst/>
            <a:ahLst/>
            <a:cxnLst/>
            <a:rect l="l" t="t" r="r" b="b"/>
            <a:pathLst>
              <a:path w="6096000" h="114419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969000" y="0"/>
                </a:lnTo>
                <a:arcTo hR="127000" wR="127000" stAng="16200000" swAng="5400000"/>
                <a:lnTo>
                  <a:pt x="60960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4" name="Text 12"/>
          <p:cNvSpPr/>
          <p:nvPr/>
        </p:nvSpPr>
        <p:spPr>
          <a:xfrm>
            <a:off x="5537200" y="3405981"/>
            <a:ext cx="57556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loads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7200" y="3751362"/>
            <a:ext cx="575564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hashes detect new, duplicate and corrected customers.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83200" y="4397772"/>
            <a:ext cx="6096000" cy="1144191"/>
          </a:xfrm>
          <a:prstGeom prst="roundRect">
            <a:avLst>
              <a:gd name="adj" fmla="val 11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3200" y="4397772"/>
            <a:ext cx="6096000" cy="1144191"/>
          </a:xfrm>
          <a:custGeom>
            <a:avLst/>
            <a:gdLst/>
            <a:ahLst/>
            <a:cxnLst/>
            <a:rect l="l" t="t" r="r" b="b"/>
            <a:pathLst>
              <a:path w="6096000" h="114419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969000" y="0"/>
                </a:lnTo>
                <a:arcTo hR="127000" wR="127000" stAng="16200000" swAng="5400000"/>
                <a:lnTo>
                  <a:pt x="60960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8" name="Text 16"/>
          <p:cNvSpPr/>
          <p:nvPr/>
        </p:nvSpPr>
        <p:spPr>
          <a:xfrm>
            <a:off x="5537200" y="4702572"/>
            <a:ext cx="575564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7200" y="5047952"/>
            <a:ext cx="58420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is compared with the database and logged with an ETL lock.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2266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Database design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1564580"/>
            <a:ext cx="5181600" cy="1429841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564580"/>
            <a:ext cx="5181600" cy="1429841"/>
          </a:xfrm>
          <a:custGeom>
            <a:avLst/>
            <a:gdLst/>
            <a:ahLst/>
            <a:cxnLst/>
            <a:rect l="l" t="t" r="r" b="b"/>
            <a:pathLst>
              <a:path w="5181600" h="14298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184398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· 4 tables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1400" y="2148780"/>
            <a:ext cx="4866132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(profile, labels, age group, record hash), credit_profiles (limit, six repayment statuses, delay metrics, totals), bills and payments (180,000 rows each).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7600" y="1564580"/>
            <a:ext cx="5181600" cy="1429841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7600" y="1564580"/>
            <a:ext cx="5181600" cy="1429841"/>
          </a:xfrm>
          <a:custGeom>
            <a:avLst/>
            <a:gdLst/>
            <a:ahLst/>
            <a:cxnLst/>
            <a:rect l="l" t="t" r="r" b="b"/>
            <a:pathLst>
              <a:path w="5181600" h="14298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200" y="184398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audit · 3 tables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6200" y="2148780"/>
            <a:ext cx="4866132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etl_runs (counts and reconciliation status per run), etl_record_audit (action and reason per record), data_quality_issues (check, column, invalid value).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3197622"/>
            <a:ext cx="5181600" cy="1429841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800" y="3197622"/>
            <a:ext cx="5181600" cy="1429841"/>
          </a:xfrm>
          <a:custGeom>
            <a:avLst/>
            <a:gdLst/>
            <a:ahLst/>
            <a:cxnLst/>
            <a:rect l="l" t="t" r="r" b="b"/>
            <a:pathLst>
              <a:path w="5181600" h="14298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3477022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· 4 tables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41400" y="3781822"/>
            <a:ext cx="4866132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agg_portfolio_summary, agg_risk_distribution, agg_monthly_financials and agg_segment_risk. Refreshed by a script; the dashboard reads them.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7600" y="3197622"/>
            <a:ext cx="5181600" cy="1429841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7600" y="3197622"/>
            <a:ext cx="5181600" cy="1429841"/>
          </a:xfrm>
          <a:custGeom>
            <a:avLst/>
            <a:gdLst/>
            <a:ahLst/>
            <a:cxnLst/>
            <a:rect l="l" t="t" r="r" b="b"/>
            <a:pathLst>
              <a:path w="5181600" h="14298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26200" y="3477022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· 2 tables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26200" y="3781822"/>
            <a:ext cx="4866132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customer_risk_scores (score, band, four component scores, rule version, reason) and customer_risk_reviews (status, priority, notes, review date).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4932263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Bills, payments, scores and reviews link to customers through customer_id foreign keys.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2266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EF4F2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Rule-based, explainable risk scoring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5680"/>
          <a:ext cx="10553700" cy="2247801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D7A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D7A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10 points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D7A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High: 25 points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repayment delay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months or more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with delay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to 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or more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utilization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to 79%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 or more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Payment-to-bill ratio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to 79%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30%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3926681"/>
            <a:ext cx="3386634" cy="1144191"/>
          </a:xfrm>
          <a:prstGeom prst="roundRect">
            <a:avLst>
              <a:gd name="adj" fmla="val 11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12800" y="3926681"/>
            <a:ext cx="3386634" cy="1144191"/>
          </a:xfrm>
          <a:custGeom>
            <a:avLst/>
            <a:gdLst/>
            <a:ahLst/>
            <a:cxnLst/>
            <a:rect l="l" t="t" r="r" b="b"/>
            <a:pathLst>
              <a:path w="3386634" h="114419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10" name="Text 7"/>
          <p:cNvSpPr/>
          <p:nvPr/>
        </p:nvSpPr>
        <p:spPr>
          <a:xfrm>
            <a:off x="1066800" y="4231481"/>
            <a:ext cx="296499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6800" y="4576862"/>
            <a:ext cx="296499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 to 29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02634" y="3926681"/>
            <a:ext cx="3386733" cy="1144191"/>
          </a:xfrm>
          <a:prstGeom prst="roundRect">
            <a:avLst>
              <a:gd name="adj" fmla="val 11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02634" y="3926681"/>
            <a:ext cx="3386733" cy="1144191"/>
          </a:xfrm>
          <a:custGeom>
            <a:avLst/>
            <a:gdLst/>
            <a:ahLst/>
            <a:cxnLst/>
            <a:rect l="l" t="t" r="r" b="b"/>
            <a:pathLst>
              <a:path w="3386733" h="114419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733" y="0"/>
                </a:lnTo>
                <a:arcTo hR="127000" wR="127000" stAng="16200000" swAng="5400000"/>
                <a:lnTo>
                  <a:pt x="3386733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4" name="Text 11"/>
          <p:cNvSpPr/>
          <p:nvPr/>
        </p:nvSpPr>
        <p:spPr>
          <a:xfrm>
            <a:off x="4656634" y="4231481"/>
            <a:ext cx="296509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56634" y="4576862"/>
            <a:ext cx="296509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30 to 59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992566" y="3926681"/>
            <a:ext cx="3386634" cy="1144191"/>
          </a:xfrm>
          <a:prstGeom prst="roundRect">
            <a:avLst>
              <a:gd name="adj" fmla="val 11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92566" y="3926681"/>
            <a:ext cx="3386634" cy="1144191"/>
          </a:xfrm>
          <a:custGeom>
            <a:avLst/>
            <a:gdLst/>
            <a:ahLst/>
            <a:cxnLst/>
            <a:rect l="l" t="t" r="r" b="b"/>
            <a:pathLst>
              <a:path w="3386634" h="114419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8" name="Text 15"/>
          <p:cNvSpPr/>
          <p:nvPr/>
        </p:nvSpPr>
        <p:spPr>
          <a:xfrm>
            <a:off x="8246566" y="4231481"/>
            <a:ext cx="296499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46566" y="4576862"/>
            <a:ext cx="296499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60 to 100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2800" y="527407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indicators, up to 25 points each. Scores are configurable heuristics (rule version 1.0), not calibrated default probabilities.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2800" y="6238280"/>
            <a:ext cx="2266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1F2E"/>
              </a:gs>
              <a:gs pos="100000">
                <a:srgbClr val="1B3A52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24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12"/>
              </a:lnSpc>
              <a:buNone/>
            </a:pPr>
            <a:r>
              <a:rPr lang="en-US" sz="192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API endpoints and access control</a:t>
            </a:r>
            <a:endParaRPr lang="en-US" sz="1920" dirty="0"/>
          </a:p>
        </p:txBody>
      </p:sp>
      <p:sp>
        <p:nvSpPr>
          <p:cNvPr id="7" name="Shape 5"/>
          <p:cNvSpPr/>
          <p:nvPr/>
        </p:nvSpPr>
        <p:spPr>
          <a:xfrm>
            <a:off x="812800" y="1340247"/>
            <a:ext cx="10566400" cy="4501753"/>
          </a:xfrm>
          <a:prstGeom prst="roundRect">
            <a:avLst>
              <a:gd name="adj" fmla="val 2821"/>
            </a:avLst>
          </a:prstGeom>
          <a:solidFill>
            <a:srgbClr val="1C3246"/>
          </a:solidFill>
          <a:ln/>
          <a:effectLst>
            <a:outerShdw sx="100000" sy="100000" kx="0" ky="0" algn="bl" rotWithShape="0" blurRad="177800" dist="635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340247"/>
            <a:ext cx="10566400" cy="4501753"/>
          </a:xfrm>
          <a:custGeom>
            <a:avLst/>
            <a:gdLst/>
            <a:ahLst/>
            <a:cxnLst/>
            <a:rect l="l" t="t" r="r" b="b"/>
            <a:pathLst>
              <a:path w="10566400" h="4501753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0439400" y="0"/>
                </a:lnTo>
                <a:arcTo hR="127000" wR="127000" stAng="16200000" swAng="5400000"/>
                <a:lnTo>
                  <a:pt x="105664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7900" y="1505347"/>
          <a:ext cx="10248900" cy="4235053"/>
        </p:xfrm>
        <a:graphic>
          <a:graphicData uri="http://schemas.openxmlformats.org/drawingml/2006/table">
            <a:tbl>
              <a:tblPr/>
              <a:tblGrid>
                <a:gridCol w="3416300"/>
                <a:gridCol w="3416300"/>
                <a:gridCol w="3416300"/>
              </a:tblGrid>
              <a:tr h="323354"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b="1" dirty="0">
                          <a:solidFill>
                            <a:srgbClr val="E0A4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Router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2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b="1" dirty="0">
                          <a:solidFill>
                            <a:srgbClr val="E0A4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2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b="1" dirty="0">
                          <a:solidFill>
                            <a:srgbClr val="E0A4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254"/>
                    </a:solidFill>
                  </a:tcPr>
                </a:tc>
              </a:tr>
              <a:tr h="506512"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E0A4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/api/auth/login issues a JWT (30 minutes). GET /api/auth/me returns the signed-in user.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 is open; every other router needs a valid token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6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9570"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E0A4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/api/dashboard/portfolio, /risk-distribution, /monthly-financials and /segment-risk, read from the aggregate tables.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 or administrator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9570"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E0A4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/api/customers is paginated (20 per page, max 100) with age and credit-limit filters. GET /api/customers/{customer_id} returns one profile.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 or administrator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9570"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E0A4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creates a review. GET lists them (paginated, filter by customer_id). GET and PATCH /api/reviews/{review_id} read and update one.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 or administrator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453"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E0A4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Reviews: delete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 /api/reviews/{review_id} removes a review.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Administrator only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512"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E0A4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/api/exports/customers streams a CSV using the same age and credit-limit filters.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 or administrator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512"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E0A4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/health and /health/db check the API and the database. Interactive docs at /docs.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42"/>
                        </a:lnSpc>
                        <a:buNone/>
                      </a:pPr>
                      <a:r>
                        <a:rPr lang="en-US" sz="103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12800" y="6238280"/>
            <a:ext cx="2368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Technology stack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1513780"/>
            <a:ext cx="3386634" cy="1560711"/>
          </a:xfrm>
          <a:prstGeom prst="roundRect">
            <a:avLst>
              <a:gd name="adj" fmla="val 8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513780"/>
            <a:ext cx="3386634" cy="1560711"/>
          </a:xfrm>
          <a:custGeom>
            <a:avLst/>
            <a:gdLst/>
            <a:ahLst/>
            <a:cxnLst/>
            <a:rect l="l" t="t" r="r" b="b"/>
            <a:pathLst>
              <a:path w="3386634" h="156071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1793180"/>
            <a:ext cx="30173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ETL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2125861"/>
            <a:ext cx="3017317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pandas and NumPy read Excel, validate, derive metrics and write curated snapshots.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2634" y="1513780"/>
            <a:ext cx="3386634" cy="1560711"/>
          </a:xfrm>
          <a:prstGeom prst="roundRect">
            <a:avLst>
              <a:gd name="adj" fmla="val 8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2634" y="1513780"/>
            <a:ext cx="3386634" cy="1560711"/>
          </a:xfrm>
          <a:custGeom>
            <a:avLst/>
            <a:gdLst/>
            <a:ahLst/>
            <a:cxnLst/>
            <a:rect l="l" t="t" r="r" b="b"/>
            <a:pathLst>
              <a:path w="3386634" h="156071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4631234" y="1793180"/>
            <a:ext cx="30173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31234" y="2125861"/>
            <a:ext cx="3017317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accessed through SQLAlchemy and PyMySQL, with indexes and aggregate tables.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2467" y="1513780"/>
            <a:ext cx="3386634" cy="1560711"/>
          </a:xfrm>
          <a:prstGeom prst="roundRect">
            <a:avLst>
              <a:gd name="adj" fmla="val 8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92467" y="1513780"/>
            <a:ext cx="3386634" cy="1560711"/>
          </a:xfrm>
          <a:custGeom>
            <a:avLst/>
            <a:gdLst/>
            <a:ahLst/>
            <a:cxnLst/>
            <a:rect l="l" t="t" r="r" b="b"/>
            <a:pathLst>
              <a:path w="3386634" h="156071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1067" y="1793180"/>
            <a:ext cx="30173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1067" y="2125861"/>
            <a:ext cx="301731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with Pydantic models and PyJWT authentication.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3277691"/>
            <a:ext cx="3386634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2800" y="3277691"/>
            <a:ext cx="3386634" cy="1320701"/>
          </a:xfrm>
          <a:custGeom>
            <a:avLst/>
            <a:gdLst/>
            <a:ahLst/>
            <a:cxnLst/>
            <a:rect l="l" t="t" r="r" b="b"/>
            <a:pathLst>
              <a:path w="3386634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1041400" y="3557091"/>
            <a:ext cx="30173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1400" y="3889772"/>
            <a:ext cx="301731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pages for the dashboard, explorer, reviews and exports.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02634" y="3277691"/>
            <a:ext cx="3386634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02634" y="3277691"/>
            <a:ext cx="3386634" cy="1320701"/>
          </a:xfrm>
          <a:custGeom>
            <a:avLst/>
            <a:gdLst/>
            <a:ahLst/>
            <a:cxnLst/>
            <a:rect l="l" t="t" r="r" b="b"/>
            <a:pathLst>
              <a:path w="3386634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25" name="Text 23"/>
          <p:cNvSpPr/>
          <p:nvPr/>
        </p:nvSpPr>
        <p:spPr>
          <a:xfrm>
            <a:off x="4631234" y="3557091"/>
            <a:ext cx="30173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31234" y="3889772"/>
            <a:ext cx="301731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python-dotenv for secrets and a versioned risk-rule config.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92467" y="3277691"/>
            <a:ext cx="3386634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92467" y="3277691"/>
            <a:ext cx="3386634" cy="1320701"/>
          </a:xfrm>
          <a:custGeom>
            <a:avLst/>
            <a:gdLst/>
            <a:ahLst/>
            <a:cxnLst/>
            <a:rect l="l" t="t" r="r" b="b"/>
            <a:pathLst>
              <a:path w="3386634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1067" y="3557091"/>
            <a:ext cx="30173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1067" y="3889772"/>
            <a:ext cx="301731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pytest, with text and XML reports for every suite.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23549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1F2E"/>
              </a:gs>
              <a:gs pos="100000">
                <a:srgbClr val="1B3A52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Demo walkthrough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1564580"/>
            <a:ext cx="5181600" cy="1384201"/>
          </a:xfrm>
          <a:prstGeom prst="roundRect">
            <a:avLst>
              <a:gd name="adj" fmla="val 9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564580"/>
            <a:ext cx="5181600" cy="1384201"/>
          </a:xfrm>
          <a:custGeom>
            <a:avLst/>
            <a:gdLst/>
            <a:ahLst/>
            <a:cxnLst/>
            <a:rect l="l" t="t" r="r" b="b"/>
            <a:pathLst>
              <a:path w="5181600" h="13842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1869380"/>
            <a:ext cx="481380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Sign 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214761"/>
            <a:ext cx="481380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as analyst or administrator; a 30-minute token is issued.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7600" y="1564580"/>
            <a:ext cx="5181600" cy="1384201"/>
          </a:xfrm>
          <a:prstGeom prst="roundRect">
            <a:avLst>
              <a:gd name="adj" fmla="val 9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7600" y="1564580"/>
            <a:ext cx="5181600" cy="1384201"/>
          </a:xfrm>
          <a:custGeom>
            <a:avLst/>
            <a:gdLst/>
            <a:ahLst/>
            <a:cxnLst/>
            <a:rect l="l" t="t" r="r" b="b"/>
            <a:pathLst>
              <a:path w="5181600" h="13842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600" y="1869380"/>
            <a:ext cx="481380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1600" y="2214761"/>
            <a:ext cx="481380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summary, risk distribution, monthly financials and segment risk.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3151981"/>
            <a:ext cx="5181600" cy="1384201"/>
          </a:xfrm>
          <a:prstGeom prst="roundRect">
            <a:avLst>
              <a:gd name="adj" fmla="val 9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800" y="3151981"/>
            <a:ext cx="5181600" cy="1384201"/>
          </a:xfrm>
          <a:custGeom>
            <a:avLst/>
            <a:gdLst/>
            <a:ahLst/>
            <a:cxnLst/>
            <a:rect l="l" t="t" r="r" b="b"/>
            <a:pathLst>
              <a:path w="5181600" h="13842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3456781"/>
            <a:ext cx="481380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Customer Explorer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6800" y="3802162"/>
            <a:ext cx="481380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customer and see the score, band and reasons.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97600" y="3151981"/>
            <a:ext cx="5181600" cy="1384201"/>
          </a:xfrm>
          <a:prstGeom prst="roundRect">
            <a:avLst>
              <a:gd name="adj" fmla="val 9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7600" y="3151981"/>
            <a:ext cx="5181600" cy="1384201"/>
          </a:xfrm>
          <a:custGeom>
            <a:avLst/>
            <a:gdLst/>
            <a:ahLst/>
            <a:cxnLst/>
            <a:rect l="l" t="t" r="r" b="b"/>
            <a:pathLst>
              <a:path w="5181600" h="13842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51600" y="3456781"/>
            <a:ext cx="481380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Reviews and export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51600" y="3802162"/>
            <a:ext cx="481380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review, set status and priority, then export customer data.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2368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Evaluation results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1513780"/>
            <a:ext cx="3386634" cy="1775321"/>
          </a:xfrm>
          <a:prstGeom prst="roundRect">
            <a:avLst>
              <a:gd name="adj" fmla="val 7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513780"/>
            <a:ext cx="3386634" cy="1775321"/>
          </a:xfrm>
          <a:custGeom>
            <a:avLst/>
            <a:gdLst/>
            <a:ahLst/>
            <a:cxnLst/>
            <a:rect l="l" t="t" r="r" b="b"/>
            <a:pathLst>
              <a:path w="3386634" h="177532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1793180"/>
            <a:ext cx="301731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>
                <a:solidFill>
                  <a:srgbClr val="1D7A6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293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41400" y="2552601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1400" y="2854821"/>
            <a:ext cx="3017317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suite in 32.47 seconds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02634" y="1513780"/>
            <a:ext cx="3386733" cy="1775321"/>
          </a:xfrm>
          <a:prstGeom prst="roundRect">
            <a:avLst>
              <a:gd name="adj" fmla="val 7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2634" y="1513780"/>
            <a:ext cx="3386733" cy="1775321"/>
          </a:xfrm>
          <a:custGeom>
            <a:avLst/>
            <a:gdLst/>
            <a:ahLst/>
            <a:cxnLst/>
            <a:rect l="l" t="t" r="r" b="b"/>
            <a:pathLst>
              <a:path w="3386733" h="177532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733" y="0"/>
                </a:lnTo>
                <a:arcTo hR="127000" wR="127000" stAng="16200000" swAng="5400000"/>
                <a:lnTo>
                  <a:pt x="3386733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4" name="Text 12"/>
          <p:cNvSpPr/>
          <p:nvPr/>
        </p:nvSpPr>
        <p:spPr>
          <a:xfrm>
            <a:off x="4631234" y="1793180"/>
            <a:ext cx="3017419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>
                <a:solidFill>
                  <a:srgbClr val="1D7A6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11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631234" y="2552601"/>
            <a:ext cx="30174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31234" y="2854821"/>
            <a:ext cx="3017419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ETL, risk rules, API, frontend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92566" y="1513780"/>
            <a:ext cx="3386634" cy="1775321"/>
          </a:xfrm>
          <a:prstGeom prst="roundRect">
            <a:avLst>
              <a:gd name="adj" fmla="val 7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92566" y="1513780"/>
            <a:ext cx="3386634" cy="1775321"/>
          </a:xfrm>
          <a:custGeom>
            <a:avLst/>
            <a:gdLst/>
            <a:ahLst/>
            <a:cxnLst/>
            <a:rect l="l" t="t" r="r" b="b"/>
            <a:pathLst>
              <a:path w="3386634" h="177532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1166" y="1793180"/>
            <a:ext cx="301731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>
                <a:solidFill>
                  <a:srgbClr val="1D7A6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30,000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221166" y="2552601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records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1166" y="2854821"/>
            <a:ext cx="3017317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rejects in notebook profiling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3543102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include relational integrity (six bill and six payment rows per customer), reconciliation after each load, and API and frontend integration.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4277122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heuristics and were not validated against actual defaults, so no predictive accuracy is claimed.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2368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the tests cover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800" y="1564580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1564580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4402634" y="1564580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2634" y="1564580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1" name="Text 9"/>
          <p:cNvSpPr/>
          <p:nvPr/>
        </p:nvSpPr>
        <p:spPr>
          <a:xfrm>
            <a:off x="7992467" y="1564580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467" y="1564580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" y="2423021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load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2423021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15" name="Text 13"/>
          <p:cNvSpPr/>
          <p:nvPr/>
        </p:nvSpPr>
        <p:spPr>
          <a:xfrm>
            <a:off x="4402634" y="2423021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02634" y="2423021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7" name="Text 15"/>
          <p:cNvSpPr/>
          <p:nvPr/>
        </p:nvSpPr>
        <p:spPr>
          <a:xfrm>
            <a:off x="7992467" y="2423021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92467" y="2423021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" y="3281462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3281462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4402634" y="3281462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aggregates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02634" y="3281462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23" name="Text 21"/>
          <p:cNvSpPr/>
          <p:nvPr/>
        </p:nvSpPr>
        <p:spPr>
          <a:xfrm>
            <a:off x="7992467" y="3281462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92467" y="3281462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D8A"/>
          </a:solidFill>
          <a:ln/>
        </p:spPr>
      </p:sp>
      <p:sp>
        <p:nvSpPr>
          <p:cNvPr id="25" name="Text 23"/>
          <p:cNvSpPr/>
          <p:nvPr/>
        </p:nvSpPr>
        <p:spPr>
          <a:xfrm>
            <a:off x="812800" y="4139902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2800" y="4139902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27" name="Text 25"/>
          <p:cNvSpPr/>
          <p:nvPr/>
        </p:nvSpPr>
        <p:spPr>
          <a:xfrm>
            <a:off x="4402634" y="4139902"/>
            <a:ext cx="3386634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  <p:txBody>
          <a:bodyPr wrap="square" lIns="166003" tIns="191403" rIns="76596" bIns="11520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integration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02634" y="4139902"/>
            <a:ext cx="3386634" cy="655241"/>
          </a:xfrm>
          <a:custGeom>
            <a:avLst/>
            <a:gdLst/>
            <a:ahLst/>
            <a:cxnLst/>
            <a:rect l="l" t="t" r="r" b="b"/>
            <a:pathLst>
              <a:path w="3386634" h="65524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59634" y="0"/>
                </a:lnTo>
                <a:arcTo hR="127000" wR="127000" stAng="16200000" swAng="5400000"/>
                <a:lnTo>
                  <a:pt x="3386634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29" name="Text 27"/>
          <p:cNvSpPr/>
          <p:nvPr/>
        </p:nvSpPr>
        <p:spPr>
          <a:xfrm>
            <a:off x="812800" y="5099943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suite writes a text and XML report to the test_reports folder.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2368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EF4F2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Challenges and learning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26480"/>
          <a:ext cx="10553700" cy="2969121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241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D7A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D7A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was handled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241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utilization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Treated as zero utilization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1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or negative net bill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payment-ratio points assigned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1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Incomplete records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is UNCLASSIFIED, never LOW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1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Repeated loads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hashes classify new, duplicate, corrected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1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Invalid source rows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 with reasons, exported and audited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1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runs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ETL lock, released after each run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4749602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Learning: keep rules in versioned config, and test every layer.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2368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271000" y="0"/>
            <a:ext cx="2921000" cy="2921000"/>
          </a:xfrm>
          <a:prstGeom prst="roundRect">
            <a:avLst>
              <a:gd name="adj" fmla="val 50000"/>
            </a:avLst>
          </a:prstGeom>
          <a:solidFill>
            <a:srgbClr val="1D7A6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6500" y="0"/>
            <a:ext cx="825500" cy="825500"/>
          </a:xfrm>
          <a:prstGeom prst="roundRect">
            <a:avLst>
              <a:gd name="adj" fmla="val 50000"/>
            </a:avLst>
          </a:prstGeom>
          <a:solidFill>
            <a:srgbClr val="C9822B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558800"/>
            <a:ext cx="609600" cy="50800"/>
          </a:xfrm>
          <a:prstGeom prst="roundRect">
            <a:avLst>
              <a:gd name="adj" fmla="val 50000"/>
            </a:avLst>
          </a:prstGeom>
          <a:solidFill>
            <a:srgbClr val="C9822B"/>
          </a:solidFill>
          <a:ln/>
        </p:spPr>
      </p:sp>
      <p:sp>
        <p:nvSpPr>
          <p:cNvPr id="6" name="Text 4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F1F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Summary and next steps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1513780"/>
            <a:ext cx="5181600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2800" y="1513780"/>
            <a:ext cx="5181600" cy="1320701"/>
          </a:xfrm>
          <a:custGeom>
            <a:avLst/>
            <a:gdLst/>
            <a:ahLst/>
            <a:cxnLst/>
            <a:rect l="l" t="t" r="r" b="b"/>
            <a:pathLst>
              <a:path w="5181600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1D7A6E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1793180"/>
            <a:ext cx="48661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2125861"/>
            <a:ext cx="486613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Validated, reconciled ETL; explainable rule-based scores; a role-secured API; an analyst dashboard; 293 passing tests.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7600" y="1513780"/>
            <a:ext cx="5181600" cy="1320701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F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7600" y="1513780"/>
            <a:ext cx="5181600" cy="1320701"/>
          </a:xfrm>
          <a:custGeom>
            <a:avLst/>
            <a:gdLst/>
            <a:ahLst/>
            <a:cxnLst/>
            <a:rect l="l" t="t" r="r" b="b"/>
            <a:pathLst>
              <a:path w="5181600" h="1320701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200" y="1793180"/>
            <a:ext cx="48661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next steps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6200" y="2125861"/>
            <a:ext cx="486613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scores against actual defaults, calibrate weights, add trend alerts, and schedule the pipeline.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2368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Loan Risk Analysis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F4EF"/>
              </a:gs>
              <a:gs pos="100000">
                <a:srgbClr val="E9F1EE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4727277" y="3158182"/>
            <a:ext cx="2819569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141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k Loan Risk Analysis Platform">
  <a:themeElements>
    <a:clrScheme name="Bank Loan Risk Analysis Platform">
      <a:dk1>
        <a:srgbClr val="141413"/>
      </a:dk1>
      <a:lt1>
        <a:srgbClr val="F6F4EF"/>
      </a:lt1>
      <a:dk2>
        <a:srgbClr val="4D4C4A"/>
      </a:dk2>
      <a:lt2>
        <a:srgbClr val="DFDED9"/>
      </a:lt2>
      <a:accent1>
        <a:srgbClr val="C9822B"/>
      </a:accent1>
      <a:accent2>
        <a:srgbClr val="1D7A6E"/>
      </a:accent2>
      <a:accent3>
        <a:srgbClr val="1B3A52"/>
      </a:accent3>
      <a:accent4>
        <a:srgbClr val="1C3246"/>
      </a:accent4>
      <a:accent5>
        <a:srgbClr val="0F1F2E"/>
      </a:accent5>
      <a:accent6>
        <a:srgbClr val="6A7179"/>
      </a:accent6>
      <a:hlink>
        <a:srgbClr val="0563C1"/>
      </a:hlink>
      <a:folHlink>
        <a:srgbClr val="954F72"/>
      </a:folHlink>
    </a:clrScheme>
    <a:fontScheme name="Bank Loan Risk Analysis Platfor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Risk Analysis Platform</dc:title>
  <dc:subject/>
  <dc:creator/>
  <cp:lastModifiedBy/>
  <cp:revision>1</cp:revision>
  <dcterms:created xsi:type="dcterms:W3CDTF">2026-10-11T12:41:48Z</dcterms:created>
  <dcterms:modified xsi:type="dcterms:W3CDTF">2026-10-11T12:41:48Z</dcterms:modified>
</cp:coreProperties>
</file>